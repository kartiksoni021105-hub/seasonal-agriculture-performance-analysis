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9" d="100"/>
          <a:sy n="89" d="100"/>
        </p:scale>
        <p:origin x="370"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50000" y="3550000"/>
            <a:ext cx="3608253" cy="1016411"/>
          </a:xfrm>
        </p:spPr>
        <p:txBody>
          <a:bodyPr vert="horz" lIns="91440" tIns="45720" rIns="91440" bIns="45720" rtlCol="0" anchor="t">
            <a:normAutofit fontScale="92500" lnSpcReduction="10000"/>
          </a:bodyPr>
          <a:lstStyle/>
          <a:p>
            <a:pPr algn="r"/>
            <a:r>
              <a:rPr lang="en-US" b="0" dirty="0">
                <a:solidFill>
                  <a:schemeClr val="tx1"/>
                </a:solidFill>
              </a:rPr>
              <a:t>Student Name: Kartik Soni </a:t>
            </a:r>
            <a:endParaRPr lang="en-IN" b="0" dirty="0">
              <a:solidFill>
                <a:schemeClr val="tx1"/>
              </a:solidFill>
            </a:endParaRPr>
          </a:p>
          <a:p>
            <a:pPr algn="r"/>
            <a:r>
              <a:rPr lang="en-US" b="0" dirty="0">
                <a:solidFill>
                  <a:schemeClr val="tx1"/>
                </a:solidFill>
              </a:rPr>
              <a:t>College Name-</a:t>
            </a:r>
            <a:r>
              <a:rPr lang="en-IN" b="0" dirty="0"/>
              <a:t>Government Engineering College Bikaner</a:t>
            </a:r>
            <a:r>
              <a:rPr lang="en-US" b="0" dirty="0">
                <a:solidFill>
                  <a:schemeClr val="tx1"/>
                </a:solidFill>
              </a:rPr>
              <a:t>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150000" y="1750000"/>
            <a:ext cx="5677084" cy="1539376"/>
          </a:xfrm>
        </p:spPr>
        <p:txBody>
          <a:bodyPr>
            <a:normAutofit/>
          </a:bodyPr>
          <a:lstStyle/>
          <a:p>
            <a:r>
              <a:rPr lang="en-GB" sz="2400" dirty="0"/>
              <a:t>Seasonal Agriculture Performance Analysis</a:t>
            </a:r>
            <a:endParaRPr lang="en-IN" sz="24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0" y="4445411"/>
            <a:ext cx="4133768" cy="646331"/>
          </a:xfrm>
          <a:prstGeom prst="rect">
            <a:avLst/>
          </a:prstGeom>
          <a:noFill/>
        </p:spPr>
        <p:txBody>
          <a:bodyPr wrap="square" rtlCol="0">
            <a:spAutoFit/>
          </a:bodyPr>
          <a:lstStyle/>
          <a:p>
            <a:r>
              <a:rPr lang="en-US" b="1" dirty="0"/>
              <a:t>AICTE STU ID :</a:t>
            </a:r>
            <a:r>
              <a:rPr lang="en-IN" dirty="0"/>
              <a:t> STU6a63a80d4ea911784915981</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a:bodyPr>
          <a:lstStyle/>
          <a:p>
            <a:pPr>
              <a:lnSpc>
                <a:spcPct val="130000"/>
              </a:lnSpc>
              <a:buNone/>
            </a:pPr>
            <a:r>
              <a:rPr lang="en-IN" sz="1600" dirty="0"/>
              <a:t>Agricultural performance is shaped by seasonal shifts in rainfall, temperature and resource use, but raw farm data does not, on its own, show how these seasons actually differ or why.</a:t>
            </a:r>
          </a:p>
          <a:p>
            <a:pPr>
              <a:lnSpc>
                <a:spcPct val="130000"/>
              </a:lnSpc>
              <a:buNone/>
            </a:pPr>
            <a:r>
              <a:rPr lang="en-IN" sz="1600" dirty="0"/>
              <a:t>Across 4,000 farm records spanning Kharif, Rabi and Zaid seasons, it is unclear which season carries the greatest financial risk, what drives that risk, and whether the answer is the same for every crop and region.</a:t>
            </a:r>
          </a:p>
          <a:p>
            <a:pPr>
              <a:lnSpc>
                <a:spcPct val="130000"/>
              </a:lnSpc>
              <a:buNone/>
            </a:pPr>
            <a:r>
              <a:rPr lang="en-IN" sz="1600" dirty="0"/>
              <a:t>This project analyzes the dataset to uncover meaningful seasonal patterns and translate them into evidence-based recommendations for agricultural planning.</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a:bodyPr>
          <a:lstStyle/>
          <a:p>
            <a:r>
              <a:rPr lang="en-GB" dirty="0"/>
              <a:t>Project Description</a:t>
            </a:r>
            <a:endParaRPr lang="en-IN" dirty="0"/>
          </a:p>
        </p:txBody>
      </p:sp>
      <p:sp>
        <p:nvSpPr>
          <p:cNvPr id="20" name="Description Body"/>
          <p:cNvSpPr>
            <a:spLocks noGrp="1"/>
          </p:cNvSpPr>
          <p:nvPr>
            <p:ph type="body" sz="quarter" idx="12"/>
          </p:nvPr>
        </p:nvSpPr>
        <p:spPr>
          <a:xfrm>
            <a:off x="660399" y="1875556"/>
            <a:ext cx="7100000" cy="4400000"/>
          </a:xfrm>
        </p:spPr>
        <p:txBody>
          <a:bodyPr>
            <a:normAutofit/>
          </a:bodyPr>
          <a:lstStyle/>
          <a:p>
            <a:pPr>
              <a:lnSpc>
                <a:spcPct val="130000"/>
              </a:lnSpc>
            </a:pPr>
            <a:r>
              <a:rPr lang="en-US" sz="1600" b="1" dirty="0"/>
              <a:t>Data Cleaning: </a:t>
            </a:r>
            <a:r>
              <a:rPr lang="en-US" sz="1600" dirty="0"/>
              <a:t>Loaded the 4,000-record dataset into Pandas and filled missing Rainfall, Soil Moisture and Yield values using group-wise medians (by State-Season or Crop) instead of a single global average.</a:t>
            </a:r>
          </a:p>
          <a:p>
            <a:pPr>
              <a:lnSpc>
                <a:spcPct val="130000"/>
              </a:lnSpc>
            </a:pPr>
            <a:r>
              <a:rPr lang="en-US" sz="1600" b="1" dirty="0"/>
              <a:t>Feature Engineering: </a:t>
            </a:r>
            <a:r>
              <a:rPr lang="en-US" sz="1600" dirty="0"/>
              <a:t>Created Profit_Margin_pct (Profit / Revenue) and a Loss_Making flag to compare profitability fairly across crops of very different scale.</a:t>
            </a:r>
          </a:p>
          <a:p>
            <a:pPr>
              <a:lnSpc>
                <a:spcPct val="130000"/>
              </a:lnSpc>
            </a:pPr>
            <a:r>
              <a:rPr lang="en-US" sz="1600" b="1" dirty="0"/>
              <a:t>Exploratory Analysis: </a:t>
            </a:r>
            <a:r>
              <a:rPr lang="en-US" sz="1600" dirty="0"/>
              <a:t>Grouped and visualized rainfall, yield, profit, disease risk and irrigation efficiency by season, then used a one-way ANOVA test to confirm which seasonal differences were statistically significant.</a:t>
            </a:r>
            <a:endParaRPr lang="en-IN" sz="16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algn="just">
              <a:lnSpc>
                <a:spcPct val="130000"/>
              </a:lnSpc>
            </a:pPr>
            <a:r>
              <a:rPr lang="en-US" sz="1800" b="1" dirty="0"/>
              <a:t>Farmers &amp; Agronomists: </a:t>
            </a:r>
            <a:r>
              <a:rPr lang="en-US" sz="1800" dirty="0"/>
              <a:t>Use seasonal risk patterns to decide which crops and irrigation methods to plan for in Zaid, where 64.5% of farms currently lose money.</a:t>
            </a:r>
          </a:p>
          <a:p>
            <a:pPr algn="just">
              <a:lnSpc>
                <a:spcPct val="130000"/>
              </a:lnSpc>
            </a:pPr>
            <a:r>
              <a:rPr lang="en-US" sz="1800" b="1" dirty="0"/>
              <a:t>Government &amp; Policy Planners: </a:t>
            </a:r>
            <a:r>
              <a:rPr lang="en-US" sz="1800" dirty="0"/>
              <a:t>Target subsidies, crop insurance and irrigation infrastructure toward the seasons and regions shown to carry the highest financial risk.</a:t>
            </a:r>
          </a:p>
          <a:p>
            <a:pPr algn="just">
              <a:lnSpc>
                <a:spcPct val="130000"/>
              </a:lnSpc>
            </a:pPr>
            <a:r>
              <a:rPr lang="en-US" sz="1800" b="1" dirty="0"/>
              <a:t>Agri-Input &amp; Irrigation Companies: </a:t>
            </a:r>
            <a:r>
              <a:rPr lang="en-US" sz="1800" dirty="0"/>
              <a:t>Use the Drip-vs-Flood profitability gap (₹2.20L vs ₹0.73L) to promote efficient irrigation equipment where it delivers the clearest return.</a:t>
            </a:r>
            <a:endParaRPr lang="en-IN" sz="18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950000" y="1432560"/>
            <a:ext cx="7468320" cy="5243448"/>
          </a:xfrm>
        </p:spPr>
        <p:txBody>
          <a:bodyPr/>
          <a:lstStyle/>
          <a:p>
            <a:pPr lvl="1">
              <a:lnSpc>
                <a:spcPct val="150000"/>
              </a:lnSpc>
            </a:pPr>
            <a:r>
              <a:rPr lang="en-US" sz="1800" b="1" dirty="0"/>
              <a:t>Python </a:t>
            </a:r>
            <a:r>
              <a:rPr lang="en-US" sz="1800" dirty="0"/>
              <a:t>– Core analysis and scripting language</a:t>
            </a:r>
          </a:p>
          <a:p>
            <a:pPr lvl="1">
              <a:lnSpc>
                <a:spcPct val="150000"/>
              </a:lnSpc>
            </a:pPr>
            <a:r>
              <a:rPr lang="en-US" sz="1800" b="1" dirty="0"/>
              <a:t>Pandas &amp; NumPy </a:t>
            </a:r>
            <a:r>
              <a:rPr lang="en-US" sz="1800" dirty="0"/>
              <a:t>– Data cleaning, grouping and feature engineering</a:t>
            </a:r>
          </a:p>
          <a:p>
            <a:pPr lvl="1">
              <a:lnSpc>
                <a:spcPct val="100000"/>
              </a:lnSpc>
            </a:pPr>
            <a:r>
              <a:rPr lang="en-US" sz="1400" dirty="0">
                <a:latin typeface="Courier New" panose="02070309020205020404" pitchFamily="49" charset="0"/>
                <a:cs typeface="Courier New" panose="02070309020205020404" pitchFamily="49" charset="0"/>
              </a:rPr>
              <a:t>df.groupby(["State","Season"])["Rainfall_mm"].transform(...)</a:t>
            </a:r>
          </a:p>
          <a:p>
            <a:pPr lvl="1">
              <a:lnSpc>
                <a:spcPct val="150000"/>
              </a:lnSpc>
            </a:pPr>
            <a:r>
              <a:rPr lang="en-US" sz="1800" b="1" dirty="0"/>
              <a:t>Matplotlib &amp; Seaborn </a:t>
            </a:r>
            <a:r>
              <a:rPr lang="en-US" sz="1800" dirty="0"/>
              <a:t>– Statistical charts and the correlation heatmap</a:t>
            </a:r>
          </a:p>
          <a:p>
            <a:pPr lvl="1">
              <a:lnSpc>
                <a:spcPct val="100000"/>
              </a:lnSpc>
            </a:pPr>
            <a:r>
              <a:rPr lang="en-US" sz="1400" dirty="0">
                <a:latin typeface="Courier New" panose="02070309020205020404" pitchFamily="49" charset="0"/>
                <a:cs typeface="Courier New" panose="02070309020205020404" pitchFamily="49" charset="0"/>
              </a:rPr>
              <a:t>sns.boxplot(data=df, x="Season", y="Profit_INR")</a:t>
            </a:r>
          </a:p>
          <a:p>
            <a:pPr lvl="1">
              <a:lnSpc>
                <a:spcPct val="150000"/>
              </a:lnSpc>
            </a:pPr>
            <a:r>
              <a:rPr lang="en-US" sz="1800" b="1" dirty="0"/>
              <a:t>SciPy </a:t>
            </a:r>
            <a:r>
              <a:rPr lang="en-US" sz="1800" dirty="0"/>
              <a:t>– One-way ANOVA to test seasonal significance</a:t>
            </a:r>
          </a:p>
          <a:p>
            <a:pPr lvl="1">
              <a:lnSpc>
                <a:spcPct val="100000"/>
              </a:lnSpc>
            </a:pPr>
            <a:r>
              <a:rPr lang="en-US" sz="1400" dirty="0">
                <a:latin typeface="Courier New" panose="02070309020205020404" pitchFamily="49" charset="0"/>
                <a:cs typeface="Courier New" panose="02070309020205020404" pitchFamily="49" charset="0"/>
              </a:rPr>
              <a:t>stats.f_oneway(kharif, rabi, zaid)</a:t>
            </a:r>
          </a:p>
          <a:p>
            <a:pPr lvl="1">
              <a:lnSpc>
                <a:spcPct val="150000"/>
              </a:lnSpc>
            </a:pPr>
            <a:r>
              <a:rPr lang="en-US" sz="1800" b="1" dirty="0"/>
              <a:t>Jupyter Notebook </a:t>
            </a:r>
            <a:r>
              <a:rPr lang="en-US" sz="1800" dirty="0"/>
              <a:t>– Documented, reproducible analysis</a:t>
            </a:r>
            <a:endParaRPr lang="en-IN" sz="1800"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1"/>
            <a:ext cx="2981643" cy="819508"/>
          </a:xfrm>
        </p:spPr>
        <p:txBody>
          <a:bodyPr>
            <a:normAutofit fontScale="90000"/>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p:cNvSpPr>
            <a:spLocks noGrp="1"/>
          </p:cNvSpPr>
          <p:nvPr>
            <p:ph type="body" sz="quarter" idx="12"/>
          </p:nvPr>
        </p:nvSpPr>
        <p:spPr>
          <a:xfrm>
            <a:off x="450000" y="724618"/>
            <a:ext cx="7200000" cy="333786"/>
          </a:xfrm>
        </p:spPr>
        <p:txBody>
          <a:bodyPr vert="horz" lIns="91440" tIns="45720" rIns="91440" bIns="45720" rtlCol="0" anchor="t">
            <a:normAutofit lnSpcReduction="10000"/>
          </a:bodyPr>
          <a:lstStyle/>
          <a:p>
            <a:pPr marL="0" indent="0">
              <a:buNone/>
            </a:pPr>
            <a:r>
              <a:rPr lang="en-US" sz="1600" b="1" dirty="0"/>
              <a:t>Environmental Conditions by Season</a:t>
            </a:r>
            <a:endParaRPr lang="en-IN" sz="1600" b="1" dirty="0"/>
          </a:p>
        </p:txBody>
      </p:sp>
      <p:pic>
        <p:nvPicPr>
          <p:cNvPr id="30" name="Chart 6"/>
          <p:cNvPicPr>
            <a:picLocks noChangeAspect="1"/>
          </p:cNvPicPr>
          <p:nvPr/>
        </p:nvPicPr>
        <p:blipFill>
          <a:blip r:embed="rId3"/>
          <a:stretch>
            <a:fillRect/>
          </a:stretch>
        </p:blipFill>
        <p:spPr>
          <a:xfrm>
            <a:off x="4286012" y="0"/>
            <a:ext cx="6300000" cy="2136627"/>
          </a:xfrm>
          <a:prstGeom prst="rect">
            <a:avLst/>
          </a:prstGeom>
        </p:spPr>
      </p:pic>
      <p:sp>
        <p:nvSpPr>
          <p:cNvPr id="31" name="Insight Caption"/>
          <p:cNvSpPr txBox="1"/>
          <p:nvPr/>
        </p:nvSpPr>
        <p:spPr>
          <a:xfrm>
            <a:off x="450000" y="4036627"/>
            <a:ext cx="6600000" cy="600000"/>
          </a:xfrm>
          <a:prstGeom prst="rect">
            <a:avLst/>
          </a:prstGeom>
        </p:spPr>
        <p:txBody>
          <a:bodyPr wrap="square" lIns="0" tIns="0" rIns="0" bIns="0">
            <a:normAutofit/>
          </a:bodyPr>
          <a:lstStyle/>
          <a:p>
            <a:endParaRPr lang="en-US" sz="1300" i="1" dirty="0">
              <a:solidFill>
                <a:schemeClr val="tx1">
                  <a:lumMod val="65000"/>
                  <a:lumOff val="35000"/>
                </a:schemeClr>
              </a:solidFill>
            </a:endParaRPr>
          </a:p>
        </p:txBody>
      </p:sp>
      <p:pic>
        <p:nvPicPr>
          <p:cNvPr id="3" name="Picture 2">
            <a:extLst>
              <a:ext uri="{FF2B5EF4-FFF2-40B4-BE49-F238E27FC236}">
                <a16:creationId xmlns:a16="http://schemas.microsoft.com/office/drawing/2014/main" id="{FAF0B4C1-2DC8-88F3-B42A-798E51627D7A}"/>
              </a:ext>
            </a:extLst>
          </p:cNvPr>
          <p:cNvPicPr>
            <a:picLocks noChangeAspect="1"/>
          </p:cNvPicPr>
          <p:nvPr/>
        </p:nvPicPr>
        <p:blipFill>
          <a:blip r:embed="rId4"/>
          <a:stretch>
            <a:fillRect/>
          </a:stretch>
        </p:blipFill>
        <p:spPr>
          <a:xfrm>
            <a:off x="799646" y="2421378"/>
            <a:ext cx="10265030" cy="4243582"/>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p:cNvSpPr>
            <a:spLocks noGrp="1"/>
          </p:cNvSpPr>
          <p:nvPr>
            <p:ph type="body" sz="quarter" idx="12"/>
          </p:nvPr>
        </p:nvSpPr>
        <p:spPr>
          <a:xfrm>
            <a:off x="450000" y="1300000"/>
            <a:ext cx="7200000" cy="400000"/>
          </a:xfrm>
        </p:spPr>
        <p:txBody>
          <a:bodyPr vert="horz" lIns="91440" tIns="45720" rIns="91440" bIns="45720" rtlCol="0" anchor="t">
            <a:normAutofit/>
          </a:bodyPr>
          <a:lstStyle/>
          <a:p>
            <a:pPr marL="0" indent="0">
              <a:buNone/>
            </a:pPr>
            <a:r>
              <a:rPr lang="en-US" sz="1600" b="1" dirty="0"/>
              <a:t>Yield vs. Profit Across Seasons</a:t>
            </a:r>
            <a:endParaRPr lang="en-IN" sz="1600" b="1" dirty="0"/>
          </a:p>
        </p:txBody>
      </p:sp>
      <p:pic>
        <p:nvPicPr>
          <p:cNvPr id="30" name="Chart 7"/>
          <p:cNvPicPr>
            <a:picLocks noChangeAspect="1"/>
          </p:cNvPicPr>
          <p:nvPr/>
        </p:nvPicPr>
        <p:blipFill>
          <a:blip r:embed="rId3"/>
          <a:stretch>
            <a:fillRect/>
          </a:stretch>
        </p:blipFill>
        <p:spPr>
          <a:xfrm>
            <a:off x="3748317" y="94056"/>
            <a:ext cx="6300000" cy="1984910"/>
          </a:xfrm>
          <a:prstGeom prst="rect">
            <a:avLst/>
          </a:prstGeom>
        </p:spPr>
      </p:pic>
      <p:sp>
        <p:nvSpPr>
          <p:cNvPr id="31" name="Insight Caption"/>
          <p:cNvSpPr txBox="1"/>
          <p:nvPr/>
        </p:nvSpPr>
        <p:spPr>
          <a:xfrm>
            <a:off x="450000" y="4380294"/>
            <a:ext cx="6600000" cy="600000"/>
          </a:xfrm>
          <a:prstGeom prst="rect">
            <a:avLst/>
          </a:prstGeom>
        </p:spPr>
        <p:txBody>
          <a:bodyPr wrap="square" lIns="0" tIns="0" rIns="0" bIns="0">
            <a:normAutofit/>
          </a:bodyPr>
          <a:lstStyle/>
          <a:p>
            <a:endParaRPr lang="en-US" sz="1300" i="1" dirty="0">
              <a:solidFill>
                <a:schemeClr val="tx1">
                  <a:lumMod val="65000"/>
                  <a:lumOff val="35000"/>
                </a:schemeClr>
              </a:solidFill>
            </a:endParaRPr>
          </a:p>
        </p:txBody>
      </p:sp>
      <p:pic>
        <p:nvPicPr>
          <p:cNvPr id="3" name="Picture 2">
            <a:extLst>
              <a:ext uri="{FF2B5EF4-FFF2-40B4-BE49-F238E27FC236}">
                <a16:creationId xmlns:a16="http://schemas.microsoft.com/office/drawing/2014/main" id="{6A215880-9DCE-4479-4EA1-ACD5DEE4F8E2}"/>
              </a:ext>
            </a:extLst>
          </p:cNvPr>
          <p:cNvPicPr>
            <a:picLocks noChangeAspect="1"/>
          </p:cNvPicPr>
          <p:nvPr/>
        </p:nvPicPr>
        <p:blipFill>
          <a:blip r:embed="rId4"/>
          <a:stretch>
            <a:fillRect/>
          </a:stretch>
        </p:blipFill>
        <p:spPr>
          <a:xfrm>
            <a:off x="164807" y="2152750"/>
            <a:ext cx="11705334" cy="4512209"/>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p:cNvSpPr>
            <a:spLocks noGrp="1"/>
          </p:cNvSpPr>
          <p:nvPr>
            <p:ph type="body" sz="quarter" idx="12"/>
          </p:nvPr>
        </p:nvSpPr>
        <p:spPr>
          <a:xfrm>
            <a:off x="450000" y="1300000"/>
            <a:ext cx="7200000" cy="400000"/>
          </a:xfrm>
        </p:spPr>
        <p:txBody>
          <a:bodyPr vert="horz" lIns="91440" tIns="45720" rIns="91440" bIns="45720" rtlCol="0" anchor="t">
            <a:normAutofit/>
          </a:bodyPr>
          <a:lstStyle/>
          <a:p>
            <a:pPr marL="0" indent="0">
              <a:buNone/>
            </a:pPr>
            <a:r>
              <a:rPr lang="en-US" sz="1600" b="1" dirty="0"/>
              <a:t>Profit Risk by Season</a:t>
            </a:r>
            <a:endParaRPr lang="en-IN" sz="1600" b="1" dirty="0"/>
          </a:p>
        </p:txBody>
      </p:sp>
      <p:pic>
        <p:nvPicPr>
          <p:cNvPr id="30" name="Chart 8"/>
          <p:cNvPicPr>
            <a:picLocks noChangeAspect="1"/>
          </p:cNvPicPr>
          <p:nvPr/>
        </p:nvPicPr>
        <p:blipFill>
          <a:blip r:embed="rId3"/>
          <a:stretch>
            <a:fillRect/>
          </a:stretch>
        </p:blipFill>
        <p:spPr>
          <a:xfrm>
            <a:off x="3538257" y="85102"/>
            <a:ext cx="6300000" cy="2088755"/>
          </a:xfrm>
          <a:prstGeom prst="rect">
            <a:avLst/>
          </a:prstGeom>
        </p:spPr>
      </p:pic>
      <p:sp>
        <p:nvSpPr>
          <p:cNvPr id="31" name="Insight Caption"/>
          <p:cNvSpPr txBox="1"/>
          <p:nvPr/>
        </p:nvSpPr>
        <p:spPr>
          <a:xfrm>
            <a:off x="450000" y="4545947"/>
            <a:ext cx="6600000" cy="600000"/>
          </a:xfrm>
          <a:prstGeom prst="rect">
            <a:avLst/>
          </a:prstGeom>
        </p:spPr>
        <p:txBody>
          <a:bodyPr wrap="square" lIns="0" tIns="0" rIns="0" bIns="0">
            <a:normAutofit/>
          </a:bodyPr>
          <a:lstStyle/>
          <a:p>
            <a:endParaRPr lang="en-US" sz="1300" i="1" dirty="0">
              <a:solidFill>
                <a:schemeClr val="tx1">
                  <a:lumMod val="65000"/>
                  <a:lumOff val="35000"/>
                </a:schemeClr>
              </a:solidFill>
            </a:endParaRPr>
          </a:p>
        </p:txBody>
      </p:sp>
      <p:pic>
        <p:nvPicPr>
          <p:cNvPr id="3" name="Picture 2">
            <a:extLst>
              <a:ext uri="{FF2B5EF4-FFF2-40B4-BE49-F238E27FC236}">
                <a16:creationId xmlns:a16="http://schemas.microsoft.com/office/drawing/2014/main" id="{22F3F3B0-4DF0-BE12-ACA1-C69D5B2457BD}"/>
              </a:ext>
            </a:extLst>
          </p:cNvPr>
          <p:cNvPicPr>
            <a:picLocks noChangeAspect="1"/>
          </p:cNvPicPr>
          <p:nvPr/>
        </p:nvPicPr>
        <p:blipFill>
          <a:blip r:embed="rId4"/>
          <a:stretch>
            <a:fillRect/>
          </a:stretch>
        </p:blipFill>
        <p:spPr>
          <a:xfrm>
            <a:off x="0" y="2015234"/>
            <a:ext cx="12192000" cy="4803574"/>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p:cNvSpPr>
            <a:spLocks noGrp="1"/>
          </p:cNvSpPr>
          <p:nvPr>
            <p:ph type="body" sz="quarter" idx="12"/>
          </p:nvPr>
        </p:nvSpPr>
        <p:spPr>
          <a:xfrm>
            <a:off x="450000" y="1300000"/>
            <a:ext cx="7200000" cy="400000"/>
          </a:xfrm>
        </p:spPr>
        <p:txBody>
          <a:bodyPr vert="horz" lIns="91440" tIns="45720" rIns="91440" bIns="45720" rtlCol="0" anchor="t">
            <a:normAutofit/>
          </a:bodyPr>
          <a:lstStyle/>
          <a:p>
            <a:pPr marL="0" indent="0">
              <a:buNone/>
            </a:pPr>
            <a:r>
              <a:rPr lang="en-US" sz="1600" b="1" dirty="0"/>
              <a:t>Disease &amp; Pest Pressure</a:t>
            </a:r>
            <a:endParaRPr lang="en-IN" sz="1600" b="1" dirty="0"/>
          </a:p>
        </p:txBody>
      </p:sp>
      <p:pic>
        <p:nvPicPr>
          <p:cNvPr id="30" name="Chart 9"/>
          <p:cNvPicPr>
            <a:picLocks noChangeAspect="1"/>
          </p:cNvPicPr>
          <p:nvPr/>
        </p:nvPicPr>
        <p:blipFill>
          <a:blip r:embed="rId3"/>
          <a:stretch>
            <a:fillRect/>
          </a:stretch>
        </p:blipFill>
        <p:spPr>
          <a:xfrm>
            <a:off x="3270837" y="58530"/>
            <a:ext cx="6300000" cy="2115328"/>
          </a:xfrm>
          <a:prstGeom prst="rect">
            <a:avLst/>
          </a:prstGeom>
        </p:spPr>
      </p:pic>
      <p:sp>
        <p:nvSpPr>
          <p:cNvPr id="31" name="Insight Caption"/>
          <p:cNvSpPr txBox="1"/>
          <p:nvPr/>
        </p:nvSpPr>
        <p:spPr>
          <a:xfrm>
            <a:off x="450000" y="4382941"/>
            <a:ext cx="6600000" cy="600000"/>
          </a:xfrm>
          <a:prstGeom prst="rect">
            <a:avLst/>
          </a:prstGeom>
        </p:spPr>
        <p:txBody>
          <a:bodyPr wrap="square" lIns="0" tIns="0" rIns="0" bIns="0">
            <a:normAutofit/>
          </a:bodyPr>
          <a:lstStyle/>
          <a:p>
            <a:endParaRPr lang="en-US" sz="1300" i="1" dirty="0">
              <a:solidFill>
                <a:schemeClr val="tx1">
                  <a:lumMod val="65000"/>
                  <a:lumOff val="35000"/>
                </a:schemeClr>
              </a:solidFill>
            </a:endParaRPr>
          </a:p>
        </p:txBody>
      </p:sp>
      <p:pic>
        <p:nvPicPr>
          <p:cNvPr id="3" name="Picture 2">
            <a:extLst>
              <a:ext uri="{FF2B5EF4-FFF2-40B4-BE49-F238E27FC236}">
                <a16:creationId xmlns:a16="http://schemas.microsoft.com/office/drawing/2014/main" id="{C4A2E293-8146-A48E-9C58-5AE201A0166A}"/>
              </a:ext>
            </a:extLst>
          </p:cNvPr>
          <p:cNvPicPr>
            <a:picLocks noChangeAspect="1"/>
          </p:cNvPicPr>
          <p:nvPr/>
        </p:nvPicPr>
        <p:blipFill>
          <a:blip r:embed="rId4"/>
          <a:stretch>
            <a:fillRect/>
          </a:stretch>
        </p:blipFill>
        <p:spPr>
          <a:xfrm>
            <a:off x="675957" y="2173858"/>
            <a:ext cx="10234547" cy="4628998"/>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p:cNvSpPr>
            <a:spLocks noGrp="1"/>
          </p:cNvSpPr>
          <p:nvPr>
            <p:ph type="body" sz="quarter" idx="12"/>
          </p:nvPr>
        </p:nvSpPr>
        <p:spPr>
          <a:xfrm>
            <a:off x="450000" y="1300000"/>
            <a:ext cx="7200000" cy="400000"/>
          </a:xfrm>
        </p:spPr>
        <p:txBody>
          <a:bodyPr vert="horz" lIns="91440" tIns="45720" rIns="91440" bIns="45720" rtlCol="0" anchor="t">
            <a:normAutofit/>
          </a:bodyPr>
          <a:lstStyle/>
          <a:p>
            <a:pPr marL="0" indent="0">
              <a:buNone/>
            </a:pPr>
            <a:r>
              <a:rPr lang="en-US" sz="1600" b="1" dirty="0"/>
              <a:t>Irrigation Method: Efficiency vs. Profit</a:t>
            </a:r>
            <a:endParaRPr lang="en-IN" sz="1600" b="1" dirty="0"/>
          </a:p>
        </p:txBody>
      </p:sp>
      <p:pic>
        <p:nvPicPr>
          <p:cNvPr id="30" name="Chart 10"/>
          <p:cNvPicPr>
            <a:picLocks noChangeAspect="1"/>
          </p:cNvPicPr>
          <p:nvPr/>
        </p:nvPicPr>
        <p:blipFill>
          <a:blip r:embed="rId3"/>
          <a:stretch>
            <a:fillRect/>
          </a:stretch>
        </p:blipFill>
        <p:spPr>
          <a:xfrm>
            <a:off x="4737329" y="0"/>
            <a:ext cx="6300000" cy="2113472"/>
          </a:xfrm>
          <a:prstGeom prst="rect">
            <a:avLst/>
          </a:prstGeom>
        </p:spPr>
      </p:pic>
      <p:sp>
        <p:nvSpPr>
          <p:cNvPr id="31" name="Insight Caption"/>
          <p:cNvSpPr txBox="1"/>
          <p:nvPr/>
        </p:nvSpPr>
        <p:spPr>
          <a:xfrm>
            <a:off x="450000" y="4380294"/>
            <a:ext cx="6600000" cy="600000"/>
          </a:xfrm>
          <a:prstGeom prst="rect">
            <a:avLst/>
          </a:prstGeom>
        </p:spPr>
        <p:txBody>
          <a:bodyPr wrap="square" lIns="0" tIns="0" rIns="0" bIns="0">
            <a:normAutofit/>
          </a:bodyPr>
          <a:lstStyle/>
          <a:p>
            <a:endParaRPr lang="en-US" sz="1300" i="1" dirty="0">
              <a:solidFill>
                <a:schemeClr val="tx1">
                  <a:lumMod val="65000"/>
                  <a:lumOff val="35000"/>
                </a:schemeClr>
              </a:solidFill>
            </a:endParaRPr>
          </a:p>
        </p:txBody>
      </p:sp>
      <p:pic>
        <p:nvPicPr>
          <p:cNvPr id="3" name="Picture 2">
            <a:extLst>
              <a:ext uri="{FF2B5EF4-FFF2-40B4-BE49-F238E27FC236}">
                <a16:creationId xmlns:a16="http://schemas.microsoft.com/office/drawing/2014/main" id="{7797B45C-04D7-DB63-947C-C6F6B77B632E}"/>
              </a:ext>
            </a:extLst>
          </p:cNvPr>
          <p:cNvPicPr>
            <a:picLocks noChangeAspect="1"/>
          </p:cNvPicPr>
          <p:nvPr/>
        </p:nvPicPr>
        <p:blipFill>
          <a:blip r:embed="rId4"/>
          <a:stretch>
            <a:fillRect/>
          </a:stretch>
        </p:blipFill>
        <p:spPr>
          <a:xfrm>
            <a:off x="450001" y="2138101"/>
            <a:ext cx="11291999" cy="4719899"/>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21" name="Future Scope Body"/>
          <p:cNvSpPr>
            <a:spLocks noGrp="1"/>
          </p:cNvSpPr>
          <p:nvPr>
            <p:ph type="body" sz="quarter" idx="12"/>
          </p:nvPr>
        </p:nvSpPr>
        <p:spPr>
          <a:xfrm>
            <a:off x="675957" y="1875556"/>
            <a:ext cx="7300000" cy="4400000"/>
          </a:xfrm>
        </p:spPr>
        <p:txBody>
          <a:bodyPr>
            <a:normAutofit/>
          </a:bodyPr>
          <a:lstStyle/>
          <a:p>
            <a:pPr>
              <a:lnSpc>
                <a:spcPct val="130000"/>
              </a:lnSpc>
            </a:pPr>
            <a:r>
              <a:rPr lang="en-US" sz="1600" b="1" dirty="0"/>
              <a:t>Predictive Modeling: </a:t>
            </a:r>
            <a:r>
              <a:rPr lang="en-US" sz="1600" dirty="0"/>
              <a:t>Build a regression model to predict Profit or Yield from season, crop and irrigation method, turning these findings into an early-warning tool.</a:t>
            </a:r>
          </a:p>
          <a:p>
            <a:pPr>
              <a:lnSpc>
                <a:spcPct val="130000"/>
              </a:lnSpc>
            </a:pPr>
            <a:r>
              <a:rPr lang="en-US" sz="1600" b="1" dirty="0"/>
              <a:t>Real-Time Weather Integration: </a:t>
            </a:r>
            <a:r>
              <a:rPr lang="en-US" sz="1600" dirty="0"/>
              <a:t>Connect live IMD rainfall and temperature feeds to replace static seasonal averages with district-level, up-to-date conditions.</a:t>
            </a:r>
          </a:p>
          <a:p>
            <a:pPr>
              <a:lnSpc>
                <a:spcPct val="130000"/>
              </a:lnSpc>
            </a:pPr>
            <a:r>
              <a:rPr lang="en-US" sz="1600" b="1" dirty="0"/>
              <a:t>Interactive Dashboard: </a:t>
            </a:r>
            <a:r>
              <a:rPr lang="en-US" sz="1600" dirty="0"/>
              <a:t>Turn this notebook into a Streamlit dashboard so farmers and officials can filter by state, crop and season on their own.</a:t>
            </a:r>
          </a:p>
          <a:p>
            <a:pPr>
              <a:lnSpc>
                <a:spcPct val="130000"/>
              </a:lnSpc>
            </a:pPr>
            <a:r>
              <a:rPr lang="en-US" sz="1600" b="1" dirty="0"/>
              <a:t>Deeper Cost Analysis: </a:t>
            </a:r>
            <a:r>
              <a:rPr lang="en-US" sz="1600" dirty="0"/>
              <a:t>Break down Total_Cost_INR into its components to explain why costs stay flat across seasons while profit does not.</a:t>
            </a:r>
            <a:endParaRPr lang="en-IN" sz="1600" dirty="0"/>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21" name="GitHub Body"/>
          <p:cNvSpPr>
            <a:spLocks noGrp="1"/>
          </p:cNvSpPr>
          <p:nvPr>
            <p:ph type="body" sz="quarter" idx="12"/>
          </p:nvPr>
        </p:nvSpPr>
        <p:spPr>
          <a:xfrm>
            <a:off x="675957" y="2100000"/>
            <a:ext cx="7300000" cy="2800000"/>
          </a:xfrm>
        </p:spPr>
        <p:txBody>
          <a:bodyPr>
            <a:normAutofit/>
          </a:bodyPr>
          <a:lstStyle/>
          <a:p>
            <a:pPr>
              <a:lnSpc>
                <a:spcPct val="130000"/>
              </a:lnSpc>
              <a:buNone/>
            </a:pPr>
            <a:r>
              <a:rPr lang="en-IN" sz="1500" dirty="0"/>
              <a:t>Link - https://github.com/kartiksoni021105-hub/Seasonal-Agriculture-Performance-Analysis.git</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66607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3C5310D1-50E9-7DA5-A556-B09612E9764F}"/>
              </a:ext>
            </a:extLst>
          </p:cNvPr>
          <p:cNvPicPr>
            <a:picLocks noChangeAspect="1"/>
          </p:cNvPicPr>
          <p:nvPr/>
        </p:nvPicPr>
        <p:blipFill>
          <a:blip r:embed="rId3"/>
          <a:stretch>
            <a:fillRect/>
          </a:stretch>
        </p:blipFill>
        <p:spPr>
          <a:xfrm>
            <a:off x="1097604" y="1371821"/>
            <a:ext cx="9839739" cy="5399915"/>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096000" y="3400000"/>
            <a:ext cx="6000000" cy="1300000"/>
          </a:xfrm>
        </p:spPr>
        <p:txBody>
          <a:bodyPr>
            <a:normAutofit/>
          </a:bodyPr>
          <a:lstStyle/>
          <a:p>
            <a:pPr algn="ctr">
              <a:buNone/>
            </a:pPr>
            <a:r>
              <a:rPr lang="en-US" sz="1800" dirty="0"/>
              <a:t>Thank you for your time and attention.</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569</TotalTime>
  <Words>573</Words>
  <Application>Microsoft Office PowerPoint</Application>
  <PresentationFormat>Widescreen</PresentationFormat>
  <Paragraphs>47</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Courier New</vt:lpstr>
      <vt:lpstr>Trebuchet MS</vt:lpstr>
      <vt:lpstr>Wingdings</vt:lpstr>
      <vt:lpstr>Wingdings 3</vt:lpstr>
      <vt:lpstr>Facet</vt:lpstr>
      <vt:lpstr>Seasonal Agriculture Performance Analysis</vt:lpstr>
      <vt:lpstr>PROBLEM  STATEMENT</vt:lpstr>
      <vt:lpstr>Project Description</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Kartik Soni</cp:lastModifiedBy>
  <cp:revision>100</cp:revision>
  <dcterms:created xsi:type="dcterms:W3CDTF">2021-07-11T13:13:15Z</dcterms:created>
  <dcterms:modified xsi:type="dcterms:W3CDTF">2026-09-08T16:00:15Z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